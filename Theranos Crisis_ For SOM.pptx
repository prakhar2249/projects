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F83A8C-82D9-4351-B458-C4709D916DD3}">
  <a:tblStyle styleId="{04F83A8C-82D9-4351-B458-C4709D916DD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07d39a83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207d39a83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207d39a83_2_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207d39a83_2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207d39a83_2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207d39a83_2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07d39a83_2_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207d39a83_2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07d39a83_2_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207d39a83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07d39a83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207d39a83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207d39a83_2_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207d39a83_2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207d39a83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207d39a83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207d39a83_2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207d39a83_2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07d39a83_2_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207d39a83_2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07d39a83_2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207d39a83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207d39a83_2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f207d39a83_2_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207d39a83_2_1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207d39a83_2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207d39a83_2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207d39a83_2_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207d39a83_2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207d39a83_2_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207d39a83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207d39a83_2_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207d39a83_2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207d39a83_2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207d39a83_2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615458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From Hype to Fallout: </a:t>
            </a:r>
            <a:b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Mapping Stakeholder Voices in the Theranos Scandal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805203" y="3237272"/>
            <a:ext cx="4794701" cy="17255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Prakhar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Dr. Praveen Puram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Dr. Nakul Parameswar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Indian Institute of Technology Hyderabad (IITH)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1316737"/>
            <a:ext cx="7886700" cy="1796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Work is Conceptual and in Progress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Constructive feedback is highly appreciated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4438" y="1346983"/>
            <a:ext cx="5525262" cy="24495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/>
        </p:nvSpPr>
        <p:spPr>
          <a:xfrm>
            <a:off x="285750" y="226314"/>
            <a:ext cx="8572500" cy="6789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Theranos Inc. and Elizabeth Holmes</a:t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877621"/>
            <a:ext cx="2770321" cy="15513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/>
        </p:nvSpPr>
        <p:spPr>
          <a:xfrm>
            <a:off x="470916" y="100910"/>
            <a:ext cx="8332815" cy="6590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Scandal: From $9 billion to zero</a:t>
            </a:r>
            <a:r>
              <a:rPr b="0" baseline="3000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100"/>
          </a:p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3">
            <a:alphaModFix/>
          </a:blip>
          <a:srcRect b="11746" l="0" r="0" t="0"/>
          <a:stretch/>
        </p:blipFill>
        <p:spPr>
          <a:xfrm>
            <a:off x="353985" y="732500"/>
            <a:ext cx="4034669" cy="43629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28"/>
          <p:cNvSpPr txBox="1"/>
          <p:nvPr>
            <p:ph idx="11" type="ftr"/>
          </p:nvPr>
        </p:nvSpPr>
        <p:spPr>
          <a:xfrm>
            <a:off x="4562769" y="4193681"/>
            <a:ext cx="4307510" cy="802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Straker, K., Peel, S., Nusem, E., &amp; Wrigley, C. (2021). Designing a dangerous unicorn: Lessons from the Theranos case. Business Horizons, 64(4), 525-536.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8"/>
          <p:cNvPicPr preferRelativeResize="0"/>
          <p:nvPr/>
        </p:nvPicPr>
        <p:blipFill rotWithShape="1">
          <a:blip r:embed="rId3">
            <a:alphaModFix/>
          </a:blip>
          <a:srcRect b="-555" l="0" r="51191" t="89285"/>
          <a:stretch/>
        </p:blipFill>
        <p:spPr>
          <a:xfrm>
            <a:off x="4562769" y="732500"/>
            <a:ext cx="3529076" cy="10094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8204" y="925830"/>
            <a:ext cx="2569418" cy="392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1144" y="925830"/>
            <a:ext cx="2647874" cy="392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505206" y="196922"/>
            <a:ext cx="8332815" cy="6054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Theranos Scandal in Popular Media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0"/>
          <p:cNvPicPr preferRelativeResize="0"/>
          <p:nvPr/>
        </p:nvPicPr>
        <p:blipFill rotWithShape="1">
          <a:blip r:embed="rId3">
            <a:alphaModFix/>
          </a:blip>
          <a:srcRect b="6690" l="0" r="0" t="6246"/>
          <a:stretch/>
        </p:blipFill>
        <p:spPr>
          <a:xfrm>
            <a:off x="439890" y="1032129"/>
            <a:ext cx="3536768" cy="3079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0"/>
          <p:cNvPicPr preferRelativeResize="0"/>
          <p:nvPr/>
        </p:nvPicPr>
        <p:blipFill rotWithShape="1">
          <a:blip r:embed="rId4">
            <a:alphaModFix/>
          </a:blip>
          <a:srcRect b="0" l="11772" r="12763" t="22499"/>
          <a:stretch/>
        </p:blipFill>
        <p:spPr>
          <a:xfrm>
            <a:off x="4597214" y="1258484"/>
            <a:ext cx="4546786" cy="262653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/>
          <p:nvPr/>
        </p:nvSpPr>
        <p:spPr>
          <a:xfrm>
            <a:off x="795526" y="4197015"/>
            <a:ext cx="2825496" cy="3462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 Salience Theory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5432644" y="4181258"/>
            <a:ext cx="2825496" cy="3462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Power-Interest Matrix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0"/>
          <p:cNvSpPr txBox="1"/>
          <p:nvPr/>
        </p:nvSpPr>
        <p:spPr>
          <a:xfrm>
            <a:off x="462325" y="265255"/>
            <a:ext cx="8269778" cy="7014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Stakeholder frameworks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533954" y="985552"/>
            <a:ext cx="8269778" cy="34148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Affective or emotional salience is the perceived importance of stimuli arising from emotional content (outrage, sympathy)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‘Emotional intensity’ and ‘Moral tone’ drive attention and judgement beyond technical evidence in high-velocity information environments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Low-power stakeholders (public, patients) gain influence via collective emotion 🡪 High-power stakeholders (investors, partners) adjust decisions in response to public affect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533954" y="284076"/>
            <a:ext cx="8269778" cy="7014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Affective Salience</a:t>
            </a:r>
            <a:r>
              <a:rPr b="0" baseline="3000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100"/>
          </a:p>
        </p:txBody>
      </p:sp>
      <p:sp>
        <p:nvSpPr>
          <p:cNvPr id="173" name="Google Shape;173;p31"/>
          <p:cNvSpPr txBox="1"/>
          <p:nvPr>
            <p:ph idx="11" type="ftr"/>
          </p:nvPr>
        </p:nvSpPr>
        <p:spPr>
          <a:xfrm>
            <a:off x="533953" y="4579374"/>
            <a:ext cx="8469937" cy="46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1. Schimmelpfennig, J., Topczewski, J., Zajkowski, W., &amp; Jankowiak-Siuda, K. (2023). The role of the salience network in cognitive and affective deficits. Frontiers in human neuroscience, 17, 1133367.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533954" y="881742"/>
            <a:ext cx="8269778" cy="41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Traditional stakeholder salience: power, legitimacy, urgency.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Affective/Emotional salience</a:t>
            </a:r>
            <a:endParaRPr/>
          </a:p>
          <a:p>
            <a:pPr indent="-17145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Another dimension that explains why stakeholders without formal power can meaningfully shape outcomes in scandals</a:t>
            </a:r>
            <a:endParaRPr/>
          </a:p>
          <a:p>
            <a:pPr indent="-17145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Attention reallocation: public outrage elevates issue urgency and compels institutional responses (regulators, partners)</a:t>
            </a:r>
            <a:endParaRPr/>
          </a:p>
          <a:p>
            <a:pPr indent="-17145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Legitimacy contests: emotional narratives redefine who is seen as credible (whistleblowers vs elite endorsers)</a:t>
            </a:r>
            <a:endParaRPr/>
          </a:p>
          <a:p>
            <a:pPr indent="-17145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Temporal dynamics: emotions peak at exposure and adjudication stages, creating tipping points that accelerate cascade effects</a:t>
            </a:r>
            <a:endParaRPr/>
          </a:p>
        </p:txBody>
      </p:sp>
      <p:sp>
        <p:nvSpPr>
          <p:cNvPr id="179" name="Google Shape;179;p32"/>
          <p:cNvSpPr txBox="1"/>
          <p:nvPr/>
        </p:nvSpPr>
        <p:spPr>
          <a:xfrm>
            <a:off x="533954" y="284076"/>
            <a:ext cx="8269778" cy="7014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Affective Salience within Stakeholder theory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533954" y="1200150"/>
            <a:ext cx="8269778" cy="36592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Signal amplification: Emotionally charged cues (patient harm, deception) dominate decision frames, reducing tolerance for uncertainty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Heuristic substitution: Under time pressure, affect-laden narratives serve as shortcuts, displacing technical validation and increasing the likelihood of sharp reversals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Contagion effects: Emotional tone diffuses across stakeholder networks (media, social platforms), triggering coordinated exit or corrective actions</a:t>
            </a:r>
            <a:endParaRPr/>
          </a:p>
        </p:txBody>
      </p:sp>
      <p:sp>
        <p:nvSpPr>
          <p:cNvPr id="185" name="Google Shape;185;p33"/>
          <p:cNvSpPr txBox="1"/>
          <p:nvPr/>
        </p:nvSpPr>
        <p:spPr>
          <a:xfrm>
            <a:off x="533954" y="109728"/>
            <a:ext cx="8269778" cy="875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Mechanisms in organizational judgement and decision-making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/>
        </p:nvSpPr>
        <p:spPr>
          <a:xfrm>
            <a:off x="533954" y="140059"/>
            <a:ext cx="8269778" cy="614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(1 of 2)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34"/>
          <p:cNvPicPr preferRelativeResize="0"/>
          <p:nvPr/>
        </p:nvPicPr>
        <p:blipFill rotWithShape="1">
          <a:blip r:embed="rId3">
            <a:alphaModFix/>
          </a:blip>
          <a:srcRect b="0" l="0" r="8525" t="0"/>
          <a:stretch/>
        </p:blipFill>
        <p:spPr>
          <a:xfrm>
            <a:off x="52006" y="1879473"/>
            <a:ext cx="4323397" cy="303504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34"/>
          <p:cNvPicPr preferRelativeResize="0"/>
          <p:nvPr/>
        </p:nvPicPr>
        <p:blipFill rotWithShape="1">
          <a:blip r:embed="rId4">
            <a:alphaModFix/>
          </a:blip>
          <a:srcRect b="0" l="0" r="7311" t="0"/>
          <a:stretch/>
        </p:blipFill>
        <p:spPr>
          <a:xfrm>
            <a:off x="4519422" y="1879473"/>
            <a:ext cx="4572572" cy="303504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340269" y="822960"/>
            <a:ext cx="8375279" cy="7724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Posts on Popular media and Instagram - Investors, Competitors (Set 1)</a:t>
            </a:r>
            <a:endParaRPr/>
          </a:p>
          <a:p>
            <a:pPr indent="-254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/>
        </p:nvSpPr>
        <p:spPr>
          <a:xfrm>
            <a:off x="533954" y="140059"/>
            <a:ext cx="8269778" cy="614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(2 of 2)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340269" y="842153"/>
            <a:ext cx="4480905" cy="39310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Public comments/sentiments on ‘Theranos’ in Instagram from the following News Agencies (Set 2) </a:t>
            </a:r>
            <a:endParaRPr/>
          </a:p>
          <a:p>
            <a:pPr indent="-17145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ABC News, BBC News, Bloomberg Business, Brut America, </a:t>
            </a:r>
            <a:endParaRPr/>
          </a:p>
          <a:p>
            <a:pPr indent="-17145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Business Insider, CNBC, Guardian, Morning Brew, NBC News</a:t>
            </a:r>
            <a:endParaRPr/>
          </a:p>
          <a:p>
            <a:pPr indent="-17145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News Max, New York Times, Wall Street Journal</a:t>
            </a:r>
            <a:endParaRPr/>
          </a:p>
          <a:p>
            <a:pPr indent="-3810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1" marL="520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0" name="Google Shape;200;p35"/>
          <p:cNvGraphicFramePr/>
          <p:nvPr/>
        </p:nvGraphicFramePr>
        <p:xfrm>
          <a:off x="4982319" y="94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{04F83A8C-82D9-4351-B458-C4709D916DD3}</a:tableStyleId>
              </a:tblPr>
              <a:tblGrid>
                <a:gridCol w="3821400"/>
              </a:tblGrid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Sheâ€™s still lying. She didnâ€™t make mistakes. She perpetuated a con.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She's a snake. Stop talking about her and stop covering her.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She's a villain (marvel category) and only gets 11 years? Unreasonable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 she will get like 4 years for good behavior ðŸ¤·ðŸ»â€â™‚ï¸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 weâ€™re supposed to feel sorry for her? Donâ€™t think soâ€¦.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 we're already supposed to forgive and feel bad for her?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 giving voices to people who don't deserve to be heard.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That damn karma bus ðŸšŒ has been making its stops lately.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2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Thatâ€™s what happens when you F people over!!!! No parole!!!! ðŸ¤®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â€œdevoted motherâ€ is another one of her carefully concocted faÃ§ades.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75" marB="0" marR="4775" marL="4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/>
        </p:nvSpPr>
        <p:spPr>
          <a:xfrm>
            <a:off x="533954" y="164591"/>
            <a:ext cx="8269778" cy="614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Preprocessing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445770" y="706374"/>
            <a:ext cx="8357961" cy="4365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Convert data to lowercase, Remove characters, Translation to English, Tokenization, Stopword removal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Total Cleaned comments = 2206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 rotWithShape="1">
          <a:blip r:embed="rId3">
            <a:alphaModFix/>
          </a:blip>
          <a:srcRect b="11306" l="4214" r="3771" t="11603"/>
          <a:stretch/>
        </p:blipFill>
        <p:spPr>
          <a:xfrm>
            <a:off x="533954" y="2571750"/>
            <a:ext cx="3346704" cy="24002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36"/>
          <p:cNvPicPr preferRelativeResize="0"/>
          <p:nvPr/>
        </p:nvPicPr>
        <p:blipFill rotWithShape="1">
          <a:blip r:embed="rId4">
            <a:alphaModFix/>
          </a:blip>
          <a:srcRect b="16400" l="14186" r="15207" t="18254"/>
          <a:stretch/>
        </p:blipFill>
        <p:spPr>
          <a:xfrm>
            <a:off x="4322677" y="1940814"/>
            <a:ext cx="4707356" cy="3110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/>
        </p:nvSpPr>
        <p:spPr>
          <a:xfrm>
            <a:off x="533954" y="169058"/>
            <a:ext cx="8269778" cy="6143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Modelling (Latent Dirichlet Allocation)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37"/>
          <p:cNvPicPr preferRelativeResize="0"/>
          <p:nvPr/>
        </p:nvPicPr>
        <p:blipFill rotWithShape="1">
          <a:blip r:embed="rId3">
            <a:alphaModFix/>
          </a:blip>
          <a:srcRect b="1606" l="1675" r="38447" t="1934"/>
          <a:stretch/>
        </p:blipFill>
        <p:spPr>
          <a:xfrm>
            <a:off x="150876" y="797095"/>
            <a:ext cx="1975104" cy="221513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37"/>
          <p:cNvSpPr txBox="1"/>
          <p:nvPr/>
        </p:nvSpPr>
        <p:spPr>
          <a:xfrm>
            <a:off x="216027" y="3169160"/>
            <a:ext cx="1844802" cy="11772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Number of Topics = 5, </a:t>
            </a:r>
            <a:b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Highest Coherence value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1475" y="776522"/>
            <a:ext cx="6852078" cy="3790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533954" y="893990"/>
            <a:ext cx="8269778" cy="41025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Topic modelling reveals moral-emotional clusters – deception, accountability, justice inequality, ambivalence – which structure public meaning-making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Low-power influence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: Aggregated emotion generates de facto urgency, compelling high-power actors to respond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Visibility and virality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: Emotionally framed content enjoys attention advantages, accelerating narrative shifts and reputational trajectories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Narrative polarization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: Competing frames (sympathy vs condemnation) produce unstable equilibria until institutional facts resolve ambiguity.</a:t>
            </a:r>
            <a:endParaRPr/>
          </a:p>
        </p:txBody>
      </p:sp>
      <p:sp>
        <p:nvSpPr>
          <p:cNvPr id="223" name="Google Shape;223;p38"/>
          <p:cNvSpPr txBox="1"/>
          <p:nvPr/>
        </p:nvSpPr>
        <p:spPr>
          <a:xfrm>
            <a:off x="533954" y="284076"/>
            <a:ext cx="8269778" cy="7014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discourse as an affective infrastructure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533954" y="710294"/>
            <a:ext cx="8209997" cy="4200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Evidence-led communications: Prioritize third-party validation and accessible performance data to counter emotion-driven narratives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Stakeholder monitoring: Track affective salience metrics (valence, moral terms, activation signals)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Whistleblower pathways: Institutionalize safe escalation and rapid remediation to prevent moral outrage from becoming the dominant narrative</a:t>
            </a:r>
            <a:endParaRPr/>
          </a:p>
        </p:txBody>
      </p:sp>
      <p:sp>
        <p:nvSpPr>
          <p:cNvPr id="229" name="Google Shape;229;p39"/>
          <p:cNvSpPr txBox="1"/>
          <p:nvPr/>
        </p:nvSpPr>
        <p:spPr>
          <a:xfrm>
            <a:off x="533953" y="87686"/>
            <a:ext cx="7928329" cy="62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Managerial Implications (for regulators)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idx="1" type="body"/>
          </p:nvPr>
        </p:nvSpPr>
        <p:spPr>
          <a:xfrm>
            <a:off x="533954" y="710294"/>
            <a:ext cx="8209997" cy="4200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Only select sources were taken for data collection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Topic modelling results (topics) are not mutually exclusive (overlapping)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Qualitative Research is subjective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Only a single case was considered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40"/>
          <p:cNvSpPr txBox="1"/>
          <p:nvPr/>
        </p:nvSpPr>
        <p:spPr>
          <a:xfrm>
            <a:off x="533953" y="87686"/>
            <a:ext cx="7928329" cy="62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0" baseline="3000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ctrTitle"/>
          </p:nvPr>
        </p:nvSpPr>
        <p:spPr>
          <a:xfrm>
            <a:off x="1143000" y="615458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